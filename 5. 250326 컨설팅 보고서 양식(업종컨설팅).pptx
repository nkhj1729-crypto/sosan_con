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1225" y="1530476"/>
            <a:ext cx="457898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(업종</a:t>
            </a:r>
            <a:r>
              <a:rPr dirty="0" spc="-229"/>
              <a:t> </a:t>
            </a:r>
            <a:r>
              <a:rPr dirty="0" spc="-35"/>
              <a:t>전문)컨설팅</a:t>
            </a:r>
            <a:r>
              <a:rPr dirty="0" spc="-225"/>
              <a:t> </a:t>
            </a:r>
            <a:r>
              <a:rPr dirty="0" spc="-25"/>
              <a:t>보고서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5422" y="4651375"/>
          <a:ext cx="8439150" cy="1192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5890"/>
                <a:gridCol w="1405890"/>
                <a:gridCol w="1231265"/>
                <a:gridCol w="1581150"/>
                <a:gridCol w="1406525"/>
                <a:gridCol w="1406525"/>
              </a:tblGrid>
              <a:tr h="654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455295">
                        <a:lnSpc>
                          <a:spcPct val="100000"/>
                        </a:lnSpc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고객명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372745">
                        <a:lnSpc>
                          <a:spcPct val="100000"/>
                        </a:lnSpc>
                      </a:pPr>
                      <a:r>
                        <a:rPr dirty="0" sz="1300" spc="-20" b="1">
                          <a:latin typeface="맑은 고딕"/>
                          <a:cs typeface="맑은 고딕"/>
                        </a:rPr>
                        <a:t>사업장명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dirty="0" sz="1300" spc="-10" b="1">
                          <a:latin typeface="맑은 고딕"/>
                          <a:cs typeface="맑은 고딕"/>
                        </a:rPr>
                        <a:t>컨설턴트명(연락처)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260985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맑은 고딕"/>
                          <a:cs typeface="맑은 고딕"/>
                        </a:rPr>
                        <a:t>컨설팅</a:t>
                      </a:r>
                      <a:r>
                        <a:rPr dirty="0" sz="130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기간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179070">
                        <a:lnSpc>
                          <a:spcPct val="100000"/>
                        </a:lnSpc>
                      </a:pPr>
                      <a:r>
                        <a:rPr dirty="0" sz="1300" b="1">
                          <a:latin typeface="맑은 고딕"/>
                          <a:cs typeface="맑은 고딕"/>
                        </a:rPr>
                        <a:t>보고서</a:t>
                      </a:r>
                      <a:r>
                        <a:rPr dirty="0" sz="130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등록일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2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6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93763" y="1018794"/>
          <a:ext cx="8233409" cy="300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2907030"/>
                <a:gridCol w="1530350"/>
                <a:gridCol w="2601595"/>
              </a:tblGrid>
              <a:tr h="535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고객명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연령/성별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6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사업장명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창업일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사업자등록번호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영업시간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종업원 </a:t>
                      </a:r>
                      <a:r>
                        <a:rPr dirty="0" sz="120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tabLst>
                          <a:tab pos="543560" algn="l"/>
                          <a:tab pos="1391285" algn="l"/>
                          <a:tab pos="2226310" algn="l"/>
                        </a:tabLst>
                      </a:pPr>
                      <a:r>
                        <a:rPr dirty="0" sz="1100" spc="-50">
                          <a:latin typeface="맑은 고딕"/>
                          <a:cs typeface="맑은 고딕"/>
                        </a:rPr>
                        <a:t>총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1100" spc="-10">
                          <a:latin typeface="맑은 고딕"/>
                          <a:cs typeface="맑은 고딕"/>
                        </a:rPr>
                        <a:t>명(정직원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명,</a:t>
                      </a:r>
                      <a:r>
                        <a:rPr dirty="0" sz="1100" spc="-15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1100" spc="-25">
                          <a:latin typeface="맑은 고딕"/>
                          <a:cs typeface="맑은 고딕"/>
                        </a:rPr>
                        <a:t>시간제</a:t>
                      </a:r>
                      <a:r>
                        <a:rPr dirty="0" sz="1100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1100" spc="-25">
                          <a:latin typeface="맑은 고딕"/>
                          <a:cs typeface="맑은 고딕"/>
                        </a:rPr>
                        <a:t>명)</a:t>
                      </a:r>
                      <a:endParaRPr sz="1100">
                        <a:latin typeface="맑은 고딕"/>
                        <a:cs typeface="맑은 고딕"/>
                      </a:endParaRPr>
                    </a:p>
                  </a:txBody>
                  <a:tcPr marL="0" marR="0" marB="0" marT="31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사업장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주소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474370" y="3992838"/>
            <a:ext cx="2181225" cy="70167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100">
                <a:latin typeface="맑은 고딕"/>
                <a:cs typeface="맑은 고딕"/>
              </a:rPr>
              <a:t>※</a:t>
            </a:r>
            <a:r>
              <a:rPr dirty="0" sz="1100" spc="-10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예비창업자의</a:t>
            </a:r>
            <a:r>
              <a:rPr dirty="0" sz="1100" spc="-2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경우,</a:t>
            </a:r>
            <a:r>
              <a:rPr dirty="0" sz="1100" spc="-5">
                <a:latin typeface="맑은 고딕"/>
                <a:cs typeface="맑은 고딕"/>
              </a:rPr>
              <a:t> </a:t>
            </a:r>
            <a:r>
              <a:rPr dirty="0" sz="1100">
                <a:latin typeface="맑은 고딕"/>
                <a:cs typeface="맑은 고딕"/>
              </a:rPr>
              <a:t>예상치</a:t>
            </a:r>
            <a:r>
              <a:rPr dirty="0" sz="1100" spc="-15">
                <a:latin typeface="맑은 고딕"/>
                <a:cs typeface="맑은 고딕"/>
              </a:rPr>
              <a:t> </a:t>
            </a:r>
            <a:r>
              <a:rPr dirty="0" sz="1100" spc="-25">
                <a:latin typeface="맑은 고딕"/>
                <a:cs typeface="맑은 고딕"/>
              </a:rPr>
              <a:t>작성</a:t>
            </a:r>
            <a:endParaRPr sz="11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800" b="1">
                <a:latin typeface="맑은 고딕"/>
                <a:cs typeface="맑은 고딕"/>
              </a:rPr>
              <a:t>2.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사업장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운영 </a:t>
            </a:r>
            <a:r>
              <a:rPr dirty="0" sz="1800" spc="-25" b="1">
                <a:latin typeface="맑은 고딕"/>
                <a:cs typeface="맑은 고딕"/>
              </a:rPr>
              <a:t>현황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1.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기본정보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93763" y="4804664"/>
          <a:ext cx="8233409" cy="1071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1895"/>
                <a:gridCol w="7038340"/>
              </a:tblGrid>
              <a:tr h="422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b="1">
                          <a:latin typeface="맑은 고딕"/>
                          <a:cs typeface="맑은 고딕"/>
                        </a:rPr>
                        <a:t>사업 </a:t>
                      </a: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아이템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333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경쟁력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844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6785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3.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사업장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진단 및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개선점(요청사항)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4109592" y="5463286"/>
                </a:lnTo>
                <a:lnTo>
                  <a:pt x="4109592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  <a:path w="8219440" h="5463540">
                <a:moveTo>
                  <a:pt x="4109592" y="5463286"/>
                </a:moveTo>
                <a:lnTo>
                  <a:pt x="8219185" y="5463286"/>
                </a:lnTo>
                <a:lnTo>
                  <a:pt x="8219185" y="0"/>
                </a:lnTo>
                <a:lnTo>
                  <a:pt x="4109592" y="0"/>
                </a:lnTo>
                <a:lnTo>
                  <a:pt x="4109592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723638" y="1081532"/>
            <a:ext cx="1193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SWOT</a:t>
            </a:r>
            <a:r>
              <a:rPr dirty="0" sz="1800" spc="-95">
                <a:latin typeface="맑은 고딕"/>
                <a:cs typeface="맑은 고딕"/>
              </a:rPr>
              <a:t> </a:t>
            </a:r>
            <a:r>
              <a:rPr dirty="0" sz="1800" spc="-25">
                <a:latin typeface="맑은 고딕"/>
                <a:cs typeface="맑은 고딕"/>
              </a:rPr>
              <a:t>분석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4639246" y="1417383"/>
          <a:ext cx="3970020" cy="3158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9930"/>
                <a:gridCol w="1979930"/>
              </a:tblGrid>
              <a:tr h="1579245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S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W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7048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9245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O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9144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1065"/>
                        </a:spcBef>
                      </a:pPr>
                      <a:r>
                        <a:rPr dirty="0" sz="1800">
                          <a:latin typeface="맑은 고딕"/>
                          <a:cs typeface="맑은 고딕"/>
                        </a:rPr>
                        <a:t>T</a:t>
                      </a:r>
                      <a:endParaRPr sz="1800">
                        <a:latin typeface="맑은 고딕"/>
                        <a:cs typeface="맑은 고딕"/>
                      </a:endParaRPr>
                    </a:p>
                  </a:txBody>
                  <a:tcPr marL="0" marR="0" marB="0" marT="13525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618540" y="1110437"/>
            <a:ext cx="25323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맑은 고딕"/>
                <a:cs typeface="맑은 고딕"/>
              </a:rPr>
              <a:t>신청인</a:t>
            </a:r>
            <a:r>
              <a:rPr dirty="0" sz="1800" spc="-10">
                <a:latin typeface="맑은 고딕"/>
                <a:cs typeface="맑은 고딕"/>
              </a:rPr>
              <a:t> 요청사항(개선점)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4.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진단결과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1212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5.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spc="-20" b="1">
                <a:latin typeface="맑은 고딕"/>
                <a:cs typeface="맑은 고딕"/>
              </a:rPr>
              <a:t>대안제시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286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6.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일자별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컨설팅 수행내용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spc="-25" b="1">
                <a:latin typeface="맑은 고딕"/>
                <a:cs typeface="맑은 고딕"/>
              </a:rPr>
              <a:t>요약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455422" y="988186"/>
          <a:ext cx="8295005" cy="568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325"/>
                <a:gridCol w="4887595"/>
                <a:gridCol w="2072639"/>
              </a:tblGrid>
              <a:tr h="614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303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구분(수행일자)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수행내역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200" spc="-20" b="1">
                          <a:latin typeface="맑은 고딕"/>
                          <a:cs typeface="맑은 고딕"/>
                        </a:rPr>
                        <a:t>수행시간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659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1일차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(‘00.00.00)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15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 spc="-25" b="1">
                          <a:latin typeface="맑은 고딕"/>
                          <a:cs typeface="맑은 고딕"/>
                        </a:rPr>
                        <a:t>2일차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200" spc="-10" b="1">
                          <a:latin typeface="맑은 고딕"/>
                          <a:cs typeface="맑은 고딕"/>
                        </a:rPr>
                        <a:t>(‘00.00.00)</a:t>
                      </a:r>
                      <a:endParaRPr sz="120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2517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7.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기타의견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및 </a:t>
            </a:r>
            <a:r>
              <a:rPr dirty="0" sz="1800" spc="-20" b="1">
                <a:latin typeface="맑은 고딕"/>
                <a:cs typeface="맑은 고딕"/>
              </a:rPr>
              <a:t>첨부자료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2829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8.</a:t>
            </a:r>
            <a:r>
              <a:rPr dirty="0" sz="1800" spc="-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컨설턴트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spc="-10" b="1">
                <a:latin typeface="맑은 고딕"/>
                <a:cs typeface="맑은 고딕"/>
              </a:rPr>
              <a:t>종합의견(요약)</a:t>
            </a:r>
            <a:endParaRPr sz="1800">
              <a:latin typeface="맑은 고딕"/>
              <a:cs typeface="맑은 고딕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57200" y="990053"/>
            <a:ext cx="8219440" cy="5463540"/>
          </a:xfrm>
          <a:custGeom>
            <a:avLst/>
            <a:gdLst/>
            <a:ahLst/>
            <a:cxnLst/>
            <a:rect l="l" t="t" r="r" b="b"/>
            <a:pathLst>
              <a:path w="8219440" h="5463540">
                <a:moveTo>
                  <a:pt x="0" y="5463286"/>
                </a:moveTo>
                <a:lnTo>
                  <a:pt x="8219313" y="5463286"/>
                </a:lnTo>
                <a:lnTo>
                  <a:pt x="8219313" y="0"/>
                </a:lnTo>
                <a:lnTo>
                  <a:pt x="0" y="0"/>
                </a:lnTo>
                <a:lnTo>
                  <a:pt x="0" y="546328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70" y="649351"/>
            <a:ext cx="206057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/>
              <a:t>9.</a:t>
            </a:r>
            <a:r>
              <a:rPr dirty="0" sz="1800" spc="-5"/>
              <a:t> </a:t>
            </a:r>
            <a:r>
              <a:rPr dirty="0" sz="1800"/>
              <a:t>컨설팅</a:t>
            </a:r>
            <a:r>
              <a:rPr dirty="0" sz="1800" spc="5"/>
              <a:t> </a:t>
            </a:r>
            <a:r>
              <a:rPr dirty="0" sz="1800"/>
              <a:t>수행 </a:t>
            </a:r>
            <a:r>
              <a:rPr dirty="0" sz="1800" spc="-25"/>
              <a:t>사진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020317"/>
            <a:ext cx="797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5" b="1">
                <a:solidFill>
                  <a:srgbClr val="FF0000"/>
                </a:solidFill>
                <a:latin typeface="맑은 고딕"/>
                <a:cs typeface="맑은 고딕"/>
              </a:rPr>
              <a:t>※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반드시 컨설팅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신청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고객과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컨설턴트가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함께</a:t>
            </a:r>
            <a:r>
              <a:rPr dirty="0" sz="1200" spc="-5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나오는</a:t>
            </a:r>
            <a:r>
              <a:rPr dirty="0" sz="1200" spc="10" b="1">
                <a:solidFill>
                  <a:srgbClr val="FF0000"/>
                </a:solidFill>
                <a:latin typeface="맑은 고딕"/>
                <a:cs typeface="맑은 고딕"/>
              </a:rPr>
              <a:t> </a:t>
            </a:r>
            <a:r>
              <a:rPr dirty="0" sz="1200" b="1">
                <a:solidFill>
                  <a:srgbClr val="FF0000"/>
                </a:solidFill>
                <a:latin typeface="맑은 고딕"/>
                <a:cs typeface="맑은 고딕"/>
              </a:rPr>
              <a:t>사진으로 업로드</a:t>
            </a:r>
            <a:r>
              <a:rPr dirty="0" sz="1200" spc="-30" b="1">
                <a:solidFill>
                  <a:srgbClr val="FF0000"/>
                </a:solidFill>
                <a:latin typeface="맑은 고딕"/>
                <a:cs typeface="맑은 고딕"/>
              </a:rPr>
              <a:t> 必</a:t>
            </a:r>
            <a:endParaRPr sz="12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(단</a:t>
            </a:r>
            <a:r>
              <a:rPr dirty="0" sz="1200" spc="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신청인이 거부반응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보일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경우,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사업장에서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컨설팅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중인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컨설턴트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사진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등으로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대체하되 관련</a:t>
            </a:r>
            <a:r>
              <a:rPr dirty="0" sz="1200" spc="10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상황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>
                <a:solidFill>
                  <a:srgbClr val="0000FF"/>
                </a:solidFill>
                <a:latin typeface="맑은 고딕"/>
                <a:cs typeface="맑은 고딕"/>
              </a:rPr>
              <a:t>알림장에</a:t>
            </a:r>
            <a:r>
              <a:rPr dirty="0" sz="1200" spc="-5">
                <a:solidFill>
                  <a:srgbClr val="0000FF"/>
                </a:solidFill>
                <a:latin typeface="맑은 고딕"/>
                <a:cs typeface="맑은 고딕"/>
              </a:rPr>
              <a:t> </a:t>
            </a:r>
            <a:r>
              <a:rPr dirty="0" sz="1200" spc="-25">
                <a:solidFill>
                  <a:srgbClr val="0000FF"/>
                </a:solidFill>
                <a:latin typeface="맑은 고딕"/>
                <a:cs typeface="맑은 고딕"/>
              </a:rPr>
              <a:t>표기)</a:t>
            </a:r>
            <a:endParaRPr sz="1200">
              <a:latin typeface="맑은 고딕"/>
              <a:cs typeface="맑은 고딕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29209" y="1468374"/>
          <a:ext cx="8233409" cy="505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/>
                <a:gridCol w="4114800"/>
              </a:tblGrid>
              <a:tr h="505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1일차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67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300" spc="-25" b="1">
                          <a:latin typeface="맑은 고딕"/>
                          <a:cs typeface="맑은 고딕"/>
                        </a:rPr>
                        <a:t>2일차</a:t>
                      </a:r>
                      <a:endParaRPr sz="1300">
                        <a:latin typeface="맑은 고딕"/>
                        <a:cs typeface="맑은 고딕"/>
                      </a:endParaRPr>
                    </a:p>
                  </a:txBody>
                  <a:tcPr marL="0" marR="0" marB="0" marT="1670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</a:tr>
              <a:tr h="227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4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7992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(참고)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자가진단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체크 </a:t>
            </a:r>
            <a:r>
              <a:rPr dirty="0" sz="1800" spc="-10" b="1">
                <a:latin typeface="맑은 고딕"/>
                <a:cs typeface="맑은 고딕"/>
              </a:rPr>
              <a:t>리스트(음식업)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33196" y="1006602"/>
          <a:ext cx="8221980" cy="551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930"/>
                <a:gridCol w="1982470"/>
                <a:gridCol w="5009515"/>
              </a:tblGrid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구분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항목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내용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</a:tr>
              <a:tr h="220345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점포관리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사업경력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요리경력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10년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10년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자격증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유무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한식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양식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중식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일식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복어 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주요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고객층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직장인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주거인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유동인구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연령대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30대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40대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50대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60대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이후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영업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시간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아침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점심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저녁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심야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종업원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매출/매입장부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메뉴관리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운영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한식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양식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중식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일식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복어 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주력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메뉴(쓰기)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요리방법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개선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업종전환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검토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매출액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경쟁점포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홍보 및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점포홍보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방법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입소문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홍보물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인터넷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컴퓨터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사용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홍보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효과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인터넷광고도입(유료)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네이버스마트플레이스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모른다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 지도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노출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유입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매출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온라인마케팅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운영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SNS</a:t>
                      </a:r>
                      <a:r>
                        <a:rPr dirty="0" sz="850" spc="-3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블로그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리뷰이벤트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네이버검색광고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3858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(참고)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자가진단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체크 </a:t>
            </a:r>
            <a:r>
              <a:rPr dirty="0" sz="1800" spc="-10" b="1">
                <a:latin typeface="맑은 고딕"/>
                <a:cs typeface="맑은 고딕"/>
              </a:rPr>
              <a:t>리스트(이·미용)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33196" y="1006602"/>
          <a:ext cx="8221980" cy="5296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930"/>
                <a:gridCol w="1982470"/>
                <a:gridCol w="5009515"/>
              </a:tblGrid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구분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항목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내용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</a:tr>
              <a:tr h="22034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점포관리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사업경력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자격증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유무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헤어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네일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피부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메이크업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주요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고객층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직장인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주거인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유동인구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연령대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30대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40대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50대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60대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이후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영업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시간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아침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점심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저녁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심야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종업원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매출/매입장부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서비스관리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운영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헤어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네일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피부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메이크업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주력서비스(쓰기)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서비스방법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개선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업종전환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검토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매출액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경쟁점포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홍보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및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점포홍보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방법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입소문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홍보물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인터넷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컴퓨터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사용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홍보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효과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인터넷광고도입(유료)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네이버스마트플레이스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안다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모른다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 지도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노출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유입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매출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온라인마케팅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운영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SNS</a:t>
                      </a:r>
                      <a:r>
                        <a:rPr dirty="0" sz="850" spc="-3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블로그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리뷰이벤트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네이버검색광고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4256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(참고)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자가진단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체크 </a:t>
            </a:r>
            <a:r>
              <a:rPr dirty="0" sz="1800" spc="-10" b="1">
                <a:latin typeface="맑은 고딕"/>
                <a:cs typeface="맑은 고딕"/>
              </a:rPr>
              <a:t>리스트(교육서비스)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33196" y="1006602"/>
          <a:ext cx="8221980" cy="5296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930"/>
                <a:gridCol w="1982470"/>
                <a:gridCol w="5009515"/>
              </a:tblGrid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구분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항목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내용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</a:tr>
              <a:tr h="22034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점포관리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사업경력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자격증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유무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2667000" algn="l"/>
                        </a:tabLst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있음(자격증명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: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	)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없음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주요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고객층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  <a:tabLst>
                          <a:tab pos="4309110" algn="l"/>
                        </a:tabLst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초등학생</a:t>
                      </a:r>
                      <a:r>
                        <a:rPr dirty="0" sz="850" spc="27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중학생</a:t>
                      </a:r>
                      <a:r>
                        <a:rPr dirty="0" sz="850" spc="28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고등학생</a:t>
                      </a:r>
                      <a:r>
                        <a:rPr dirty="0" sz="850" spc="29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일반</a:t>
                      </a:r>
                      <a:r>
                        <a:rPr dirty="0" sz="850" spc="28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기타(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	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연령대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10대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28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30대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40대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50대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60대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이후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영업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시간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아침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점심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저녁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심야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종업원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매출/매입장부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서비스관리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운영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예체능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공부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운동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주력서비스(쓰기)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서비스방법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개선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업종전환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검토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매출액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경쟁점포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홍보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및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점포홍보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방법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입소문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홍보물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인터넷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컴퓨터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사용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홍보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효과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인터넷광고도입(유료)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네이버스마트플레이스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안다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모른다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 지도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노출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유입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매출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온라인마케팅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운영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SNS</a:t>
                      </a:r>
                      <a:r>
                        <a:rPr dirty="0" sz="850" spc="-3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블로그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리뷰이벤트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네이버검색광고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4370" y="649351"/>
            <a:ext cx="4256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맑은 고딕"/>
                <a:cs typeface="맑은 고딕"/>
              </a:rPr>
              <a:t>(참고)</a:t>
            </a:r>
            <a:r>
              <a:rPr dirty="0" sz="1800" spc="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자가진단</a:t>
            </a:r>
            <a:r>
              <a:rPr dirty="0" sz="1800" spc="15" b="1">
                <a:latin typeface="맑은 고딕"/>
                <a:cs typeface="맑은 고딕"/>
              </a:rPr>
              <a:t> </a:t>
            </a:r>
            <a:r>
              <a:rPr dirty="0" sz="1800" b="1">
                <a:latin typeface="맑은 고딕"/>
                <a:cs typeface="맑은 고딕"/>
              </a:rPr>
              <a:t>체크 </a:t>
            </a:r>
            <a:r>
              <a:rPr dirty="0" sz="1800" spc="-10" b="1">
                <a:latin typeface="맑은 고딕"/>
                <a:cs typeface="맑은 고딕"/>
              </a:rPr>
              <a:t>리스트(의류도소매)</a:t>
            </a:r>
            <a:endParaRPr sz="1800">
              <a:latin typeface="맑은 고딕"/>
              <a:cs typeface="맑은 고딕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33196" y="1006602"/>
          <a:ext cx="8221980" cy="5296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7930"/>
                <a:gridCol w="1982470"/>
                <a:gridCol w="5009515"/>
              </a:tblGrid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구분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항목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내용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DCDB"/>
                    </a:solidFill>
                  </a:tcPr>
                </a:tc>
              </a:tr>
              <a:tr h="22034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949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점포관리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사업경력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3년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자격증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유무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2667000" algn="l"/>
                        </a:tabLst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있음(자격증명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: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	)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없음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주요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고객층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직장인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주거인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유동인구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연령대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30대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40대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50대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60대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이후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영업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시간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아침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점심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저녁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심야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4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종업원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매출/매입장부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0D6EC"/>
                    </a:solidFill>
                  </a:tcPr>
                </a:tc>
              </a:tr>
              <a:tr h="22097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341630">
                        <a:lnSpc>
                          <a:spcPct val="100000"/>
                        </a:lnSpc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서비스관리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운영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업종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가방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의류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액세서리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기타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주력서비스(쓰기)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서비스방법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개선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업종전환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검토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고객수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매출액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변화(6개월간)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감소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없다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경쟁점포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50" b="1">
                          <a:latin typeface="맑은 고딕"/>
                          <a:cs typeface="맑은 고딕"/>
                        </a:rPr>
                        <a:t>수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2개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이하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5개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35" b="1">
                          <a:latin typeface="맑은 고딕"/>
                          <a:cs typeface="맑은 고딕"/>
                        </a:rPr>
                        <a:t>이상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F9E3"/>
                    </a:solidFill>
                  </a:tcPr>
                </a:tc>
              </a:tr>
              <a:tr h="220979">
                <a:tc row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501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홍보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및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마케팅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점포홍보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방법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입소문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홍보물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인터넷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컴퓨터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사용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홍보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효과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있다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없다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인터넷광고도입(유료)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1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네이버스마트플레이스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안다</a:t>
                      </a:r>
                      <a:r>
                        <a:rPr dirty="0" sz="850" spc="-2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모른다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점포 지도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노출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필요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불필요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34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고객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유입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인터넷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이용 매출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증가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 가능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불가능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온라인마케팅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운영 </a:t>
                      </a:r>
                      <a:r>
                        <a:rPr dirty="0" sz="850" spc="-25" b="1">
                          <a:latin typeface="맑은 고딕"/>
                          <a:cs typeface="맑은 고딕"/>
                        </a:rPr>
                        <a:t>여부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SNS</a:t>
                      </a:r>
                      <a:r>
                        <a:rPr dirty="0" sz="850" spc="-3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 블로그</a:t>
                      </a:r>
                      <a:r>
                        <a:rPr dirty="0" sz="850" spc="-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5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리뷰이벤트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</a:t>
                      </a:r>
                      <a:r>
                        <a:rPr dirty="0" sz="850" b="1">
                          <a:latin typeface="맑은 고딕"/>
                          <a:cs typeface="맑은 고딕"/>
                        </a:rPr>
                        <a:t>□</a:t>
                      </a:r>
                      <a:r>
                        <a:rPr dirty="0" sz="850" spc="-10" b="1">
                          <a:latin typeface="맑은 고딕"/>
                          <a:cs typeface="맑은 고딕"/>
                        </a:rPr>
                        <a:t> 네이버검색광고</a:t>
                      </a:r>
                      <a:endParaRPr sz="850">
                        <a:latin typeface="맑은 고딕"/>
                        <a:cs typeface="맑은 고딕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DD2"/>
                    </a:solidFill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35367" y="116624"/>
            <a:ext cx="1368171" cy="406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kinfa</dc:creator>
  <dc:title>PowerPoint 프레젠테이션</dc:title>
  <dcterms:created xsi:type="dcterms:W3CDTF">2025-04-03T01:26:03Z</dcterms:created>
  <dcterms:modified xsi:type="dcterms:W3CDTF">2025-04-03T01:26:03Z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2025-04-03T00:00:00Z</vt:filetime>
  </property>
  <property fmtid="{D5CDD505-2E9C-101B-9397-08002B2CF9AE}" pid="5" name="Producer">
    <vt:lpwstr>Microsoft® PowerPoint® 2010</vt:lpwstr>
  </property>
</Properties>
</file>