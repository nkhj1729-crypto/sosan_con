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1580" y="1530476"/>
            <a:ext cx="497268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(사업성</a:t>
            </a:r>
            <a:r>
              <a:rPr dirty="0" spc="-240"/>
              <a:t> </a:t>
            </a:r>
            <a:r>
              <a:rPr dirty="0" spc="-35"/>
              <a:t>분석)컨설팅</a:t>
            </a:r>
            <a:r>
              <a:rPr dirty="0" spc="-240"/>
              <a:t> </a:t>
            </a:r>
            <a:r>
              <a:rPr dirty="0" spc="-25"/>
              <a:t>보고서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4651375"/>
          <a:ext cx="8439150" cy="1192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5890"/>
                <a:gridCol w="1405890"/>
                <a:gridCol w="1231265"/>
                <a:gridCol w="1581150"/>
                <a:gridCol w="1406525"/>
                <a:gridCol w="1406525"/>
              </a:tblGrid>
              <a:tr h="654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55295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맑은 고딕"/>
                          <a:cs typeface="맑은 고딕"/>
                        </a:rPr>
                        <a:t>컨설턴트명(연락처)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60985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컨설팅</a:t>
                      </a: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기간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보고서</a:t>
                      </a:r>
                      <a:r>
                        <a:rPr dirty="0" sz="130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등록일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3763" y="1018794"/>
          <a:ext cx="8233409" cy="300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2907030"/>
                <a:gridCol w="1530350"/>
                <a:gridCol w="2601595"/>
              </a:tblGrid>
              <a:tr h="535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연령/성별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창업일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사업자등록번호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영업시간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종업원 </a:t>
                      </a:r>
                      <a:r>
                        <a:rPr dirty="0" sz="120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tabLst>
                          <a:tab pos="543560" algn="l"/>
                          <a:tab pos="1391285" algn="l"/>
                          <a:tab pos="2226310" algn="l"/>
                        </a:tabLst>
                      </a:pPr>
                      <a:r>
                        <a:rPr dirty="0" sz="1100" spc="-50">
                          <a:latin typeface="맑은 고딕"/>
                          <a:cs typeface="맑은 고딕"/>
                        </a:rPr>
                        <a:t>총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10">
                          <a:latin typeface="맑은 고딕"/>
                          <a:cs typeface="맑은 고딕"/>
                        </a:rPr>
                        <a:t>명(정직원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명,</a:t>
                      </a:r>
                      <a:r>
                        <a:rPr dirty="0" sz="11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시간제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명)</a:t>
                      </a:r>
                      <a:endParaRPr sz="11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사업장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주소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474370" y="3992838"/>
            <a:ext cx="2181225" cy="7016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>
                <a:latin typeface="맑은 고딕"/>
                <a:cs typeface="맑은 고딕"/>
              </a:rPr>
              <a:t>※</a:t>
            </a:r>
            <a:r>
              <a:rPr dirty="0" sz="1100" spc="-1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예비창업자의</a:t>
            </a:r>
            <a:r>
              <a:rPr dirty="0" sz="1100" spc="-2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경우,</a:t>
            </a:r>
            <a:r>
              <a:rPr dirty="0" sz="1100" spc="-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예상치</a:t>
            </a:r>
            <a:r>
              <a:rPr dirty="0" sz="1100" spc="-15">
                <a:latin typeface="맑은 고딕"/>
                <a:cs typeface="맑은 고딕"/>
              </a:rPr>
              <a:t> </a:t>
            </a:r>
            <a:r>
              <a:rPr dirty="0" sz="1100" spc="-25">
                <a:latin typeface="맑은 고딕"/>
                <a:cs typeface="맑은 고딕"/>
              </a:rPr>
              <a:t>작성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800" b="1">
                <a:latin typeface="맑은 고딕"/>
                <a:cs typeface="맑은 고딕"/>
              </a:rPr>
              <a:t>2.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운영 </a:t>
            </a:r>
            <a:r>
              <a:rPr dirty="0" sz="1800" spc="-25" b="1">
                <a:latin typeface="맑은 고딕"/>
                <a:cs typeface="맑은 고딕"/>
              </a:rPr>
              <a:t>현황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1.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기본정보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93763" y="4804664"/>
          <a:ext cx="8233409" cy="1071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7038340"/>
              </a:tblGrid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아이템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33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경쟁력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44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6785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3.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진단 및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개선점(요청사항)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4109592" y="5463286"/>
                </a:lnTo>
                <a:lnTo>
                  <a:pt x="4109592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  <a:path w="8219440" h="5463540">
                <a:moveTo>
                  <a:pt x="4109592" y="5463286"/>
                </a:moveTo>
                <a:lnTo>
                  <a:pt x="8219185" y="5463286"/>
                </a:lnTo>
                <a:lnTo>
                  <a:pt x="8219185" y="0"/>
                </a:lnTo>
                <a:lnTo>
                  <a:pt x="4109592" y="0"/>
                </a:lnTo>
                <a:lnTo>
                  <a:pt x="4109592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723638" y="1081532"/>
            <a:ext cx="1193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SWOT</a:t>
            </a:r>
            <a:r>
              <a:rPr dirty="0" sz="1800" spc="-95">
                <a:latin typeface="맑은 고딕"/>
                <a:cs typeface="맑은 고딕"/>
              </a:rPr>
              <a:t> </a:t>
            </a:r>
            <a:r>
              <a:rPr dirty="0" sz="1800" spc="-25">
                <a:latin typeface="맑은 고딕"/>
                <a:cs typeface="맑은 고딕"/>
              </a:rPr>
              <a:t>분석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639246" y="1417383"/>
          <a:ext cx="3970020" cy="315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930"/>
                <a:gridCol w="1979930"/>
              </a:tblGrid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S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W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O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914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T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135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618540" y="1110437"/>
            <a:ext cx="25323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신청인</a:t>
            </a:r>
            <a:r>
              <a:rPr dirty="0" sz="1800" spc="-10">
                <a:latin typeface="맑은 고딕"/>
                <a:cs typeface="맑은 고딕"/>
              </a:rPr>
              <a:t> 요청사항(개선점)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05676" y="936942"/>
          <a:ext cx="8262620" cy="421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/>
                <a:gridCol w="1356360"/>
                <a:gridCol w="5674995"/>
              </a:tblGrid>
              <a:tr h="3244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목록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금액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산출기준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1.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매출액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3개월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평균</a:t>
                      </a:r>
                      <a:r>
                        <a:rPr dirty="0" sz="1200" spc="-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매출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2.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매출원가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원재료비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및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10">
                          <a:latin typeface="맑은 고딕"/>
                          <a:cs typeface="맑은 고딕"/>
                        </a:rPr>
                        <a:t>상품구입비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3.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매출이익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매출액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–</a:t>
                      </a:r>
                      <a:r>
                        <a:rPr dirty="0" sz="1200" spc="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매출원가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=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>
                          <a:latin typeface="맑은 고딕"/>
                          <a:cs typeface="맑은 고딕"/>
                        </a:rPr>
                        <a:t>매출이익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4.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전체경비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아래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인건비부터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이자비용까지 합친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금액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인건비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종업원</a:t>
                      </a:r>
                      <a:r>
                        <a:rPr dirty="0" sz="12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인건비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임차료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임차관련</a:t>
                      </a:r>
                      <a:r>
                        <a:rPr dirty="0" sz="12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월세 및</a:t>
                      </a:r>
                      <a:r>
                        <a:rPr dirty="0" sz="1200" spc="-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관리비 합계</a:t>
                      </a:r>
                      <a:r>
                        <a:rPr dirty="0" sz="1000">
                          <a:latin typeface="맑은 고딕"/>
                          <a:cs typeface="맑은 고딕"/>
                        </a:rPr>
                        <a:t>(부가세 </a:t>
                      </a:r>
                      <a:r>
                        <a:rPr dirty="0" sz="1000" spc="-25">
                          <a:latin typeface="맑은 고딕"/>
                          <a:cs typeface="맑은 고딕"/>
                        </a:rPr>
                        <a:t>포함)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관리비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35">
                          <a:latin typeface="맑은 고딕"/>
                          <a:cs typeface="맑은 고딕"/>
                        </a:rPr>
                        <a:t>통신비(유선+무선)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+</a:t>
                      </a:r>
                      <a:r>
                        <a:rPr dirty="0" sz="1200" spc="-9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보험</a:t>
                      </a:r>
                      <a:r>
                        <a:rPr dirty="0" sz="1200" spc="-7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및</a:t>
                      </a:r>
                      <a:r>
                        <a:rPr dirty="0" sz="1200" spc="-7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렌탈비+</a:t>
                      </a:r>
                      <a:r>
                        <a:rPr dirty="0" sz="1200" spc="-7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10">
                          <a:latin typeface="맑은 고딕"/>
                          <a:cs typeface="맑은 고딕"/>
                        </a:rPr>
                        <a:t>사업장</a:t>
                      </a:r>
                      <a:r>
                        <a:rPr dirty="0" sz="1200" spc="-6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30">
                          <a:latin typeface="맑은 고딕"/>
                          <a:cs typeface="맑은 고딕"/>
                        </a:rPr>
                        <a:t>차량유지비(있을</a:t>
                      </a:r>
                      <a:r>
                        <a:rPr dirty="0" sz="1200" spc="-4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시)</a:t>
                      </a:r>
                      <a:r>
                        <a:rPr dirty="0" sz="1200" spc="-8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등</a:t>
                      </a:r>
                      <a:r>
                        <a:rPr dirty="0" sz="1200" spc="-8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합계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수도광열비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전기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+</a:t>
                      </a:r>
                      <a:r>
                        <a:rPr dirty="0" sz="1200" spc="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가스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+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수도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등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합계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기타경비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홍보비(배달</a:t>
                      </a:r>
                      <a:r>
                        <a:rPr dirty="0" sz="1200" spc="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앱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수수료) 등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경비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미포함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금액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80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00" spc="-10" b="1">
                          <a:latin typeface="맑은 고딕"/>
                          <a:cs typeface="맑은 고딕"/>
                        </a:rPr>
                        <a:t>감가상각비*</a:t>
                      </a:r>
                      <a:endParaRPr sz="800">
                        <a:latin typeface="맑은 고딕"/>
                        <a:cs typeface="맑은 고딕"/>
                      </a:endParaRPr>
                    </a:p>
                  </a:txBody>
                  <a:tcPr marL="0" marR="0" marB="0" marT="647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집기,</a:t>
                      </a:r>
                      <a:r>
                        <a:rPr dirty="0" sz="1200" spc="-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시설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비용</a:t>
                      </a:r>
                      <a:r>
                        <a:rPr dirty="0" sz="12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등을</a:t>
                      </a:r>
                      <a:r>
                        <a:rPr dirty="0" sz="1200" spc="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60개월로 나눈</a:t>
                      </a:r>
                      <a:r>
                        <a:rPr dirty="0" sz="1200" spc="1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>
                          <a:latin typeface="맑은 고딕"/>
                          <a:cs typeface="맑은 고딕"/>
                        </a:rPr>
                        <a:t>금액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19050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이자비용</a:t>
                      </a:r>
                      <a:r>
                        <a:rPr dirty="0" baseline="24305" sz="1200" spc="-15" b="1">
                          <a:latin typeface="맑은 고딕"/>
                          <a:cs typeface="맑은 고딕"/>
                        </a:rPr>
                        <a:t>**</a:t>
                      </a:r>
                      <a:endParaRPr baseline="24305"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맑은 고딕"/>
                          <a:cs typeface="맑은 고딕"/>
                        </a:rPr>
                        <a:t>대출</a:t>
                      </a:r>
                      <a:r>
                        <a:rPr dirty="0" sz="1200" spc="-2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원금을 제외한</a:t>
                      </a:r>
                      <a:r>
                        <a:rPr dirty="0" sz="12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>
                          <a:latin typeface="맑은 고딕"/>
                          <a:cs typeface="맑은 고딕"/>
                        </a:rPr>
                        <a:t>순수 이자</a:t>
                      </a:r>
                      <a:r>
                        <a:rPr dirty="0" sz="1000">
                          <a:latin typeface="맑은 고딕"/>
                          <a:cs typeface="맑은 고딕"/>
                        </a:rPr>
                        <a:t>(월</a:t>
                      </a:r>
                      <a:r>
                        <a:rPr dirty="0" sz="10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000">
                          <a:latin typeface="맑은 고딕"/>
                          <a:cs typeface="맑은 고딕"/>
                        </a:rPr>
                        <a:t>상환 원금은</a:t>
                      </a:r>
                      <a:r>
                        <a:rPr dirty="0" sz="1000" spc="-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000" spc="-20">
                          <a:latin typeface="맑은 고딕"/>
                          <a:cs typeface="맑은 고딕"/>
                        </a:rPr>
                        <a:t>미반영)</a:t>
                      </a:r>
                      <a:endParaRPr sz="10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dot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5.</a:t>
                      </a:r>
                      <a:r>
                        <a:rPr dirty="0" sz="1200" spc="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총이익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381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만원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사장님</a:t>
                      </a:r>
                      <a:r>
                        <a:rPr dirty="0" sz="120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b="1">
                          <a:latin typeface="맑은 고딕"/>
                          <a:cs typeface="맑은 고딕"/>
                        </a:rPr>
                        <a:t>인건비를</a:t>
                      </a:r>
                      <a:r>
                        <a:rPr dirty="0" sz="1200" spc="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b="1">
                          <a:latin typeface="맑은 고딕"/>
                          <a:cs typeface="맑은 고딕"/>
                        </a:rPr>
                        <a:t>포함한 총이익</a:t>
                      </a:r>
                      <a:r>
                        <a:rPr dirty="0" sz="1200" spc="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b="1">
                          <a:latin typeface="맑은 고딕"/>
                          <a:cs typeface="맑은 고딕"/>
                        </a:rPr>
                        <a:t>(매출이익</a:t>
                      </a:r>
                      <a:r>
                        <a:rPr dirty="0" sz="120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b="1">
                          <a:latin typeface="맑은 고딕"/>
                          <a:cs typeface="맑은 고딕"/>
                        </a:rPr>
                        <a:t>–</a:t>
                      </a: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b="1">
                          <a:latin typeface="맑은 고딕"/>
                          <a:cs typeface="맑은 고딕"/>
                        </a:rPr>
                        <a:t>전체경비 =</a:t>
                      </a:r>
                      <a:r>
                        <a:rPr dirty="0" sz="1200" spc="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총이익)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507593" y="588390"/>
            <a:ext cx="1546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월간</a:t>
            </a:r>
            <a:r>
              <a:rPr dirty="0" sz="1800" spc="-4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손익</a:t>
            </a:r>
            <a:r>
              <a:rPr dirty="0" sz="1800" spc="-45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분석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0583" y="5318886"/>
            <a:ext cx="807275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맑은 고딕"/>
                <a:cs typeface="맑은 고딕"/>
              </a:rPr>
              <a:t>*</a:t>
            </a:r>
            <a:r>
              <a:rPr dirty="0" sz="1300" spc="-4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감가상각비</a:t>
            </a:r>
            <a:r>
              <a:rPr dirty="0" sz="1300" spc="-3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:</a:t>
            </a:r>
            <a:r>
              <a:rPr dirty="0" sz="1300" spc="-2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영업을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위해</a:t>
            </a:r>
            <a:r>
              <a:rPr dirty="0" sz="1300" spc="-4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투자한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시설이</a:t>
            </a:r>
            <a:r>
              <a:rPr dirty="0" sz="1300" spc="-4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시간이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경과함에</a:t>
            </a:r>
            <a:r>
              <a:rPr dirty="0" sz="1300" spc="-3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따라</a:t>
            </a:r>
            <a:r>
              <a:rPr dirty="0" sz="1300" spc="-5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소모되는</a:t>
            </a:r>
            <a:r>
              <a:rPr dirty="0" sz="1300" spc="-4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가치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감소분을</a:t>
            </a:r>
            <a:r>
              <a:rPr dirty="0" sz="1300" spc="-4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비용으로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배분한</a:t>
            </a:r>
            <a:r>
              <a:rPr dirty="0" sz="1300" spc="-35">
                <a:latin typeface="맑은 고딕"/>
                <a:cs typeface="맑은 고딕"/>
              </a:rPr>
              <a:t> </a:t>
            </a:r>
            <a:r>
              <a:rPr dirty="0" sz="1300" spc="-50">
                <a:latin typeface="맑은 고딕"/>
                <a:cs typeface="맑은 고딕"/>
              </a:rPr>
              <a:t>것</a:t>
            </a:r>
            <a:endParaRPr sz="13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latin typeface="맑은 고딕"/>
                <a:cs typeface="맑은 고딕"/>
              </a:rPr>
              <a:t>**</a:t>
            </a:r>
            <a:r>
              <a:rPr dirty="0" sz="1300" spc="-4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신용회복중인</a:t>
            </a:r>
            <a:r>
              <a:rPr dirty="0" sz="1300" spc="-30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경우에도</a:t>
            </a:r>
            <a:r>
              <a:rPr dirty="0" sz="1300" spc="-5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월</a:t>
            </a:r>
            <a:r>
              <a:rPr dirty="0" sz="1300" spc="-55">
                <a:latin typeface="맑은 고딕"/>
                <a:cs typeface="맑은 고딕"/>
              </a:rPr>
              <a:t> </a:t>
            </a:r>
            <a:r>
              <a:rPr dirty="0" sz="1300">
                <a:latin typeface="맑은 고딕"/>
                <a:cs typeface="맑은 고딕"/>
              </a:rPr>
              <a:t>상환금은</a:t>
            </a:r>
            <a:r>
              <a:rPr dirty="0" sz="1300" spc="-50">
                <a:latin typeface="맑은 고딕"/>
                <a:cs typeface="맑은 고딕"/>
              </a:rPr>
              <a:t> </a:t>
            </a:r>
            <a:r>
              <a:rPr dirty="0" sz="1300" spc="-25">
                <a:latin typeface="맑은 고딕"/>
                <a:cs typeface="맑은 고딕"/>
              </a:rPr>
              <a:t>미반영</a:t>
            </a:r>
            <a:endParaRPr sz="1300">
              <a:latin typeface="맑은 고딕"/>
              <a:cs typeface="맑은 고딕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4.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진단결과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5.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대안제시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286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6.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일자별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컨설팅 수행내용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요약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988186"/>
          <a:ext cx="8295005" cy="568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325"/>
                <a:gridCol w="4887595"/>
                <a:gridCol w="2072639"/>
              </a:tblGrid>
              <a:tr h="614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구분(수행일자)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수행내역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65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5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517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7.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기타의견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및 </a:t>
            </a:r>
            <a:r>
              <a:rPr dirty="0" sz="1800" spc="-20" b="1">
                <a:latin typeface="맑은 고딕"/>
                <a:cs typeface="맑은 고딕"/>
              </a:rPr>
              <a:t>첨부자료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829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8.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컨설턴트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종합의견(요약)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649351"/>
            <a:ext cx="20605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9.</a:t>
            </a:r>
            <a:r>
              <a:rPr dirty="0" sz="1800" spc="-5"/>
              <a:t> </a:t>
            </a:r>
            <a:r>
              <a:rPr dirty="0" sz="1800"/>
              <a:t>컨설팅</a:t>
            </a:r>
            <a:r>
              <a:rPr dirty="0" sz="1800" spc="5"/>
              <a:t> </a:t>
            </a:r>
            <a:r>
              <a:rPr dirty="0" sz="1800"/>
              <a:t>수행 </a:t>
            </a:r>
            <a:r>
              <a:rPr dirty="0" sz="1800" spc="-25"/>
              <a:t>사진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020317"/>
            <a:ext cx="797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 b="1">
                <a:solidFill>
                  <a:srgbClr val="FF0000"/>
                </a:solidFill>
                <a:latin typeface="맑은 고딕"/>
                <a:cs typeface="맑은 고딕"/>
              </a:rPr>
              <a:t>※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반드시 컨설팅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신청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고객과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컨설턴트가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함께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나오는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사진으로 업로드</a:t>
            </a:r>
            <a:r>
              <a:rPr dirty="0" sz="1200" spc="-30" b="1">
                <a:solidFill>
                  <a:srgbClr val="FF0000"/>
                </a:solidFill>
                <a:latin typeface="맑은 고딕"/>
                <a:cs typeface="맑은 고딕"/>
              </a:rPr>
              <a:t> 必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(단</a:t>
            </a:r>
            <a:r>
              <a:rPr dirty="0" sz="1200" spc="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신청인이 거부반응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보일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경우,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사업장에서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컨설팅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중인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컨설턴트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사진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등으로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대체하되 관련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상황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알림장에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 spc="-25">
                <a:solidFill>
                  <a:srgbClr val="0000FF"/>
                </a:solidFill>
                <a:latin typeface="맑은 고딕"/>
                <a:cs typeface="맑은 고딕"/>
              </a:rPr>
              <a:t>표기)</a:t>
            </a:r>
            <a:endParaRPr sz="1200">
              <a:latin typeface="맑은 고딕"/>
              <a:cs typeface="맑은 고딕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29209" y="1468374"/>
          <a:ext cx="8233409" cy="505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05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kinfa</dc:creator>
  <dc:title>PowerPoint 프레젠테이션</dc:title>
  <dcterms:created xsi:type="dcterms:W3CDTF">2025-04-03T01:26:17Z</dcterms:created>
  <dcterms:modified xsi:type="dcterms:W3CDTF">2025-04-03T01:26:17Z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2025-04-03T00:00:00Z</vt:filetime>
  </property>
  <property fmtid="{D5CDD505-2E9C-101B-9397-08002B2CF9AE}" pid="5" name="Producer">
    <vt:lpwstr>Microsoft® PowerPoint® 2010</vt:lpwstr>
  </property>
</Properties>
</file>