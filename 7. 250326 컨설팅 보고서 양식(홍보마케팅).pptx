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48992" y="1530476"/>
            <a:ext cx="5238115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65"/>
              <a:t>(홍보·마케팅)컨설팅</a:t>
            </a:r>
            <a:r>
              <a:rPr dirty="0" spc="-180"/>
              <a:t> </a:t>
            </a:r>
            <a:r>
              <a:rPr dirty="0" spc="-25"/>
              <a:t>보고서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5422" y="4651375"/>
          <a:ext cx="8439150" cy="1192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5890"/>
                <a:gridCol w="1405890"/>
                <a:gridCol w="1231265"/>
                <a:gridCol w="1581150"/>
                <a:gridCol w="1406525"/>
                <a:gridCol w="1406525"/>
              </a:tblGrid>
              <a:tr h="654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455295">
                        <a:lnSpc>
                          <a:spcPct val="100000"/>
                        </a:lnSpc>
                      </a:pP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고객명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372745">
                        <a:lnSpc>
                          <a:spcPct val="100000"/>
                        </a:lnSpc>
                      </a:pPr>
                      <a:r>
                        <a:rPr dirty="0" sz="1300" spc="-20" b="1">
                          <a:latin typeface="맑은 고딕"/>
                          <a:cs typeface="맑은 고딕"/>
                        </a:rPr>
                        <a:t>사업장명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업종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dirty="0" sz="1300" spc="-10" b="1">
                          <a:latin typeface="맑은 고딕"/>
                          <a:cs typeface="맑은 고딕"/>
                        </a:rPr>
                        <a:t>컨설턴트명(연락처)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60985">
                        <a:lnSpc>
                          <a:spcPct val="100000"/>
                        </a:lnSpc>
                      </a:pPr>
                      <a:r>
                        <a:rPr dirty="0" sz="1300" b="1">
                          <a:latin typeface="맑은 고딕"/>
                          <a:cs typeface="맑은 고딕"/>
                        </a:rPr>
                        <a:t>컨설팅</a:t>
                      </a:r>
                      <a:r>
                        <a:rPr dirty="0" sz="130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기간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</a:pPr>
                      <a:r>
                        <a:rPr dirty="0" sz="1300" b="1">
                          <a:latin typeface="맑은 고딕"/>
                          <a:cs typeface="맑은 고딕"/>
                        </a:rPr>
                        <a:t>보고서</a:t>
                      </a:r>
                      <a:r>
                        <a:rPr dirty="0" sz="130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등록일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93763" y="1018794"/>
          <a:ext cx="8233409" cy="300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895"/>
                <a:gridCol w="2907030"/>
                <a:gridCol w="1530350"/>
                <a:gridCol w="2601595"/>
              </a:tblGrid>
              <a:tr h="535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고객명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연령/성별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사업장명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업종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창업일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사업자등록번호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영업시간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종업원 </a:t>
                      </a:r>
                      <a:r>
                        <a:rPr dirty="0" sz="1200" spc="-50" b="1">
                          <a:latin typeface="맑은 고딕"/>
                          <a:cs typeface="맑은 고딕"/>
                        </a:rPr>
                        <a:t>수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tabLst>
                          <a:tab pos="543560" algn="l"/>
                          <a:tab pos="1391285" algn="l"/>
                          <a:tab pos="2226310" algn="l"/>
                        </a:tabLst>
                      </a:pPr>
                      <a:r>
                        <a:rPr dirty="0" sz="1100" spc="-50">
                          <a:latin typeface="맑은 고딕"/>
                          <a:cs typeface="맑은 고딕"/>
                        </a:rPr>
                        <a:t>총</a:t>
                      </a:r>
                      <a:r>
                        <a:rPr dirty="0" sz="1100">
                          <a:latin typeface="맑은 고딕"/>
                          <a:cs typeface="맑은 고딕"/>
                        </a:rPr>
                        <a:t>	</a:t>
                      </a:r>
                      <a:r>
                        <a:rPr dirty="0" sz="1100" spc="-10">
                          <a:latin typeface="맑은 고딕"/>
                          <a:cs typeface="맑은 고딕"/>
                        </a:rPr>
                        <a:t>명(정직원</a:t>
                      </a:r>
                      <a:r>
                        <a:rPr dirty="0" sz="1100">
                          <a:latin typeface="맑은 고딕"/>
                          <a:cs typeface="맑은 고딕"/>
                        </a:rPr>
                        <a:t>	명,</a:t>
                      </a:r>
                      <a:r>
                        <a:rPr dirty="0" sz="1100" spc="-1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100" spc="-25">
                          <a:latin typeface="맑은 고딕"/>
                          <a:cs typeface="맑은 고딕"/>
                        </a:rPr>
                        <a:t>시간제</a:t>
                      </a:r>
                      <a:r>
                        <a:rPr dirty="0" sz="1100">
                          <a:latin typeface="맑은 고딕"/>
                          <a:cs typeface="맑은 고딕"/>
                        </a:rPr>
                        <a:t>	</a:t>
                      </a:r>
                      <a:r>
                        <a:rPr dirty="0" sz="1100" spc="-25">
                          <a:latin typeface="맑은 고딕"/>
                          <a:cs typeface="맑은 고딕"/>
                        </a:rPr>
                        <a:t>명)</a:t>
                      </a:r>
                      <a:endParaRPr sz="11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사업장 </a:t>
                      </a: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주소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474370" y="3992838"/>
            <a:ext cx="2181225" cy="70167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100">
                <a:latin typeface="맑은 고딕"/>
                <a:cs typeface="맑은 고딕"/>
              </a:rPr>
              <a:t>※</a:t>
            </a:r>
            <a:r>
              <a:rPr dirty="0" sz="1100" spc="-10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예비창업자의</a:t>
            </a:r>
            <a:r>
              <a:rPr dirty="0" sz="1100" spc="-2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경우,</a:t>
            </a:r>
            <a:r>
              <a:rPr dirty="0" sz="1100" spc="-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예상치</a:t>
            </a:r>
            <a:r>
              <a:rPr dirty="0" sz="1100" spc="-15">
                <a:latin typeface="맑은 고딕"/>
                <a:cs typeface="맑은 고딕"/>
              </a:rPr>
              <a:t> </a:t>
            </a:r>
            <a:r>
              <a:rPr dirty="0" sz="1100" spc="-25">
                <a:latin typeface="맑은 고딕"/>
                <a:cs typeface="맑은 고딕"/>
              </a:rPr>
              <a:t>작성</a:t>
            </a:r>
            <a:endParaRPr sz="11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800" b="1">
                <a:latin typeface="맑은 고딕"/>
                <a:cs typeface="맑은 고딕"/>
              </a:rPr>
              <a:t>2.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사업장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운영 </a:t>
            </a:r>
            <a:r>
              <a:rPr dirty="0" sz="1800" spc="-25" b="1">
                <a:latin typeface="맑은 고딕"/>
                <a:cs typeface="맑은 고딕"/>
              </a:rPr>
              <a:t>현황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4370" y="649351"/>
            <a:ext cx="1212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1.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spc="-20" b="1">
                <a:latin typeface="맑은 고딕"/>
                <a:cs typeface="맑은 고딕"/>
              </a:rPr>
              <a:t>기본정보</a:t>
            </a:r>
            <a:endParaRPr sz="1800">
              <a:latin typeface="맑은 고딕"/>
              <a:cs typeface="맑은 고딕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393763" y="4804664"/>
          <a:ext cx="8233409" cy="1071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895"/>
                <a:gridCol w="7038340"/>
              </a:tblGrid>
              <a:tr h="422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사업 </a:t>
                      </a: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아이템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133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경쟁력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마케팅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44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36785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3.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사업장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진단 및</a:t>
            </a:r>
            <a:r>
              <a:rPr dirty="0" sz="1800" spc="15" b="1">
                <a:latin typeface="맑은 고딕"/>
                <a:cs typeface="맑은 고딕"/>
              </a:rPr>
              <a:t> </a:t>
            </a:r>
            <a:r>
              <a:rPr dirty="0" sz="1800" spc="-10" b="1">
                <a:latin typeface="맑은 고딕"/>
                <a:cs typeface="맑은 고딕"/>
              </a:rPr>
              <a:t>개선점(요청사항)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4109592" y="5463286"/>
                </a:lnTo>
                <a:lnTo>
                  <a:pt x="4109592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  <a:path w="8219440" h="5463540">
                <a:moveTo>
                  <a:pt x="4109592" y="5463286"/>
                </a:moveTo>
                <a:lnTo>
                  <a:pt x="8219185" y="5463286"/>
                </a:lnTo>
                <a:lnTo>
                  <a:pt x="8219185" y="0"/>
                </a:lnTo>
                <a:lnTo>
                  <a:pt x="4109592" y="0"/>
                </a:lnTo>
                <a:lnTo>
                  <a:pt x="4109592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723638" y="1081532"/>
            <a:ext cx="1193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맑은 고딕"/>
                <a:cs typeface="맑은 고딕"/>
              </a:rPr>
              <a:t>SWOT</a:t>
            </a:r>
            <a:r>
              <a:rPr dirty="0" sz="1800" spc="-95">
                <a:latin typeface="맑은 고딕"/>
                <a:cs typeface="맑은 고딕"/>
              </a:rPr>
              <a:t> </a:t>
            </a:r>
            <a:r>
              <a:rPr dirty="0" sz="1800" spc="-25">
                <a:latin typeface="맑은 고딕"/>
                <a:cs typeface="맑은 고딕"/>
              </a:rPr>
              <a:t>분석</a:t>
            </a:r>
            <a:endParaRPr sz="1800">
              <a:latin typeface="맑은 고딕"/>
              <a:cs typeface="맑은 고딕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4639246" y="1417383"/>
          <a:ext cx="3970020" cy="3158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9930"/>
                <a:gridCol w="1979930"/>
              </a:tblGrid>
              <a:tr h="1579245"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800">
                          <a:latin typeface="맑은 고딕"/>
                          <a:cs typeface="맑은 고딕"/>
                        </a:rPr>
                        <a:t>S</a:t>
                      </a:r>
                      <a:endParaRPr sz="1800">
                        <a:latin typeface="맑은 고딕"/>
                        <a:cs typeface="맑은 고딕"/>
                      </a:endParaRPr>
                    </a:p>
                  </a:txBody>
                  <a:tcPr marL="0" marR="0" marB="0" marT="7048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800">
                          <a:latin typeface="맑은 고딕"/>
                          <a:cs typeface="맑은 고딕"/>
                        </a:rPr>
                        <a:t>W</a:t>
                      </a:r>
                      <a:endParaRPr sz="1800">
                        <a:latin typeface="맑은 고딕"/>
                        <a:cs typeface="맑은 고딕"/>
                      </a:endParaRPr>
                    </a:p>
                  </a:txBody>
                  <a:tcPr marL="0" marR="0" marB="0" marT="7048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9245"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800">
                          <a:latin typeface="맑은 고딕"/>
                          <a:cs typeface="맑은 고딕"/>
                        </a:rPr>
                        <a:t>O</a:t>
                      </a:r>
                      <a:endParaRPr sz="1800">
                        <a:latin typeface="맑은 고딕"/>
                        <a:cs typeface="맑은 고딕"/>
                      </a:endParaRPr>
                    </a:p>
                  </a:txBody>
                  <a:tcPr marL="0" marR="0" marB="0" marT="914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dirty="0" sz="1800">
                          <a:latin typeface="맑은 고딕"/>
                          <a:cs typeface="맑은 고딕"/>
                        </a:rPr>
                        <a:t>T</a:t>
                      </a:r>
                      <a:endParaRPr sz="1800">
                        <a:latin typeface="맑은 고딕"/>
                        <a:cs typeface="맑은 고딕"/>
                      </a:endParaRPr>
                    </a:p>
                  </a:txBody>
                  <a:tcPr marL="0" marR="0" marB="0" marT="135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618540" y="1110437"/>
            <a:ext cx="25323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맑은 고딕"/>
                <a:cs typeface="맑은 고딕"/>
              </a:rPr>
              <a:t>신청인</a:t>
            </a:r>
            <a:r>
              <a:rPr dirty="0" sz="1800" spc="-10">
                <a:latin typeface="맑은 고딕"/>
                <a:cs typeface="맑은 고딕"/>
              </a:rPr>
              <a:t> 요청사항(개선점)</a:t>
            </a:r>
            <a:endParaRPr sz="1800">
              <a:latin typeface="맑은 고딕"/>
              <a:cs typeface="맑은 고딕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1212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4.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spc="-20" b="1">
                <a:latin typeface="맑은 고딕"/>
                <a:cs typeface="맑은 고딕"/>
              </a:rPr>
              <a:t>진단결과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8219313" y="5463286"/>
                </a:lnTo>
                <a:lnTo>
                  <a:pt x="8219313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1212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5.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spc="-20" b="1">
                <a:latin typeface="맑은 고딕"/>
                <a:cs typeface="맑은 고딕"/>
              </a:rPr>
              <a:t>대안제시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76550" y="675259"/>
            <a:ext cx="52844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0000FF"/>
                </a:solidFill>
                <a:latin typeface="맑은 고딕"/>
                <a:cs typeface="맑은 고딕"/>
              </a:rPr>
              <a:t>※네이버</a:t>
            </a:r>
            <a:r>
              <a:rPr dirty="0" sz="1600" spc="-25" b="1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600" b="1">
                <a:solidFill>
                  <a:srgbClr val="0000FF"/>
                </a:solidFill>
                <a:latin typeface="맑은 고딕"/>
                <a:cs typeface="맑은 고딕"/>
              </a:rPr>
              <a:t>플레이스</a:t>
            </a:r>
            <a:r>
              <a:rPr dirty="0" sz="1600" spc="-30" b="1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600" b="1">
                <a:solidFill>
                  <a:srgbClr val="0000FF"/>
                </a:solidFill>
                <a:latin typeface="맑은 고딕"/>
                <a:cs typeface="맑은 고딕"/>
              </a:rPr>
              <a:t>등</a:t>
            </a:r>
            <a:r>
              <a:rPr dirty="0" sz="1600" spc="-25" b="1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600" b="1">
                <a:solidFill>
                  <a:srgbClr val="0000FF"/>
                </a:solidFill>
                <a:latin typeface="맑은 고딕"/>
                <a:cs typeface="맑은 고딕"/>
              </a:rPr>
              <a:t>SNS</a:t>
            </a:r>
            <a:r>
              <a:rPr dirty="0" sz="1600" spc="-40" b="1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600" b="1">
                <a:solidFill>
                  <a:srgbClr val="0000FF"/>
                </a:solidFill>
                <a:latin typeface="맑은 고딕"/>
                <a:cs typeface="맑은 고딕"/>
              </a:rPr>
              <a:t>이용</a:t>
            </a:r>
            <a:r>
              <a:rPr dirty="0" sz="1600" spc="-35" b="1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600" b="1">
                <a:solidFill>
                  <a:srgbClr val="0000FF"/>
                </a:solidFill>
                <a:latin typeface="맑은 고딕"/>
                <a:cs typeface="맑은 고딕"/>
              </a:rPr>
              <a:t>내용</a:t>
            </a:r>
            <a:r>
              <a:rPr dirty="0" sz="1600" spc="-30" b="1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600" b="1">
                <a:solidFill>
                  <a:srgbClr val="0000FF"/>
                </a:solidFill>
                <a:latin typeface="맑은 고딕"/>
                <a:cs typeface="맑은 고딕"/>
              </a:rPr>
              <a:t>한</a:t>
            </a:r>
            <a:r>
              <a:rPr dirty="0" sz="1600" spc="-40" b="1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600" b="1">
                <a:solidFill>
                  <a:srgbClr val="0000FF"/>
                </a:solidFill>
                <a:latin typeface="맑은 고딕"/>
                <a:cs typeface="맑은 고딕"/>
              </a:rPr>
              <a:t>페이지</a:t>
            </a:r>
            <a:r>
              <a:rPr dirty="0" sz="1600" spc="-20" b="1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600" b="1">
                <a:solidFill>
                  <a:srgbClr val="0000FF"/>
                </a:solidFill>
                <a:latin typeface="맑은 고딕"/>
                <a:cs typeface="맑은 고딕"/>
              </a:rPr>
              <a:t>필수</a:t>
            </a:r>
            <a:r>
              <a:rPr dirty="0" sz="1600" spc="-40" b="1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600" spc="-25" b="1">
                <a:solidFill>
                  <a:srgbClr val="0000FF"/>
                </a:solidFill>
                <a:latin typeface="맑은 고딕"/>
                <a:cs typeface="맑은 고딕"/>
              </a:rPr>
              <a:t>포함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8219313" y="5463286"/>
                </a:lnTo>
                <a:lnTo>
                  <a:pt x="8219313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1440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맑은 고딕"/>
                <a:cs typeface="맑은 고딕"/>
              </a:rPr>
              <a:t>5-</a:t>
            </a:r>
            <a:r>
              <a:rPr dirty="0" sz="1800" b="1">
                <a:latin typeface="맑은 고딕"/>
                <a:cs typeface="맑은 고딕"/>
              </a:rPr>
              <a:t>1.</a:t>
            </a:r>
            <a:r>
              <a:rPr dirty="0" sz="1800" spc="10" b="1">
                <a:latin typeface="맑은 고딕"/>
                <a:cs typeface="맑은 고딕"/>
              </a:rPr>
              <a:t> </a:t>
            </a:r>
            <a:r>
              <a:rPr dirty="0" sz="1800" spc="-20" b="1">
                <a:latin typeface="맑은 고딕"/>
                <a:cs typeface="맑은 고딕"/>
              </a:rPr>
              <a:t>대안제시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103626" y="675259"/>
            <a:ext cx="29108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0000FF"/>
                </a:solidFill>
                <a:latin typeface="맑은 고딕"/>
                <a:cs typeface="맑은 고딕"/>
              </a:rPr>
              <a:t>※네이버</a:t>
            </a:r>
            <a:r>
              <a:rPr dirty="0" sz="1600" spc="-30" b="1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600" b="1">
                <a:solidFill>
                  <a:srgbClr val="0000FF"/>
                </a:solidFill>
                <a:latin typeface="맑은 고딕"/>
                <a:cs typeface="맑은 고딕"/>
              </a:rPr>
              <a:t>플레이스</a:t>
            </a:r>
            <a:r>
              <a:rPr dirty="0" sz="1600" spc="-35" b="1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600" b="1">
                <a:solidFill>
                  <a:srgbClr val="0000FF"/>
                </a:solidFill>
                <a:latin typeface="맑은 고딕"/>
                <a:cs typeface="맑은 고딕"/>
              </a:rPr>
              <a:t>외</a:t>
            </a:r>
            <a:r>
              <a:rPr dirty="0" sz="1600" spc="-35" b="1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600" b="1">
                <a:solidFill>
                  <a:srgbClr val="0000FF"/>
                </a:solidFill>
                <a:latin typeface="맑은 고딕"/>
                <a:cs typeface="맑은 고딕"/>
              </a:rPr>
              <a:t>대안</a:t>
            </a:r>
            <a:r>
              <a:rPr dirty="0" sz="1600" spc="-45" b="1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600" spc="-25" b="1">
                <a:solidFill>
                  <a:srgbClr val="0000FF"/>
                </a:solidFill>
                <a:latin typeface="맑은 고딕"/>
                <a:cs typeface="맑은 고딕"/>
              </a:rPr>
              <a:t>작성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8219313" y="5463286"/>
                </a:lnTo>
                <a:lnTo>
                  <a:pt x="8219313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32861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6.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일자별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컨설팅 수행내용</a:t>
            </a:r>
            <a:r>
              <a:rPr dirty="0" sz="1800" spc="15" b="1">
                <a:latin typeface="맑은 고딕"/>
                <a:cs typeface="맑은 고딕"/>
              </a:rPr>
              <a:t> </a:t>
            </a:r>
            <a:r>
              <a:rPr dirty="0" sz="1800" spc="-25" b="1">
                <a:latin typeface="맑은 고딕"/>
                <a:cs typeface="맑은 고딕"/>
              </a:rPr>
              <a:t>요약</a:t>
            </a:r>
            <a:endParaRPr sz="1800">
              <a:latin typeface="맑은 고딕"/>
              <a:cs typeface="맑은 고딕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5422" y="988186"/>
          <a:ext cx="8295005" cy="568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0325"/>
                <a:gridCol w="4887595"/>
                <a:gridCol w="2072639"/>
              </a:tblGrid>
              <a:tr h="614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53035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구분(수행일자)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수행내역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수행시간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265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1일차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(‘00.00.00)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5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2일차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(‘00.00.00)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2517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7.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기타의견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및 </a:t>
            </a:r>
            <a:r>
              <a:rPr dirty="0" sz="1800" spc="-20" b="1">
                <a:latin typeface="맑은 고딕"/>
                <a:cs typeface="맑은 고딕"/>
              </a:rPr>
              <a:t>첨부자료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8219313" y="5463286"/>
                </a:lnTo>
                <a:lnTo>
                  <a:pt x="8219313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2829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8.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컨설턴트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spc="-10" b="1">
                <a:latin typeface="맑은 고딕"/>
                <a:cs typeface="맑은 고딕"/>
              </a:rPr>
              <a:t>종합의견(요약)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8219313" y="5463286"/>
                </a:lnTo>
                <a:lnTo>
                  <a:pt x="8219313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649351"/>
            <a:ext cx="206057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9.</a:t>
            </a:r>
            <a:r>
              <a:rPr dirty="0" sz="1800" spc="-5"/>
              <a:t> </a:t>
            </a:r>
            <a:r>
              <a:rPr dirty="0" sz="1800"/>
              <a:t>컨설팅</a:t>
            </a:r>
            <a:r>
              <a:rPr dirty="0" sz="1800" spc="5"/>
              <a:t> </a:t>
            </a:r>
            <a:r>
              <a:rPr dirty="0" sz="1800"/>
              <a:t>수행 </a:t>
            </a:r>
            <a:r>
              <a:rPr dirty="0" sz="1800" spc="-25"/>
              <a:t>사진</a:t>
            </a:r>
            <a:endParaRPr sz="1800"/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020317"/>
            <a:ext cx="7972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 b="1">
                <a:solidFill>
                  <a:srgbClr val="FF0000"/>
                </a:solidFill>
                <a:latin typeface="맑은 고딕"/>
                <a:cs typeface="맑은 고딕"/>
              </a:rPr>
              <a:t>※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반드시 컨설팅</a:t>
            </a:r>
            <a:r>
              <a:rPr dirty="0" sz="1200" spc="-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신청</a:t>
            </a:r>
            <a:r>
              <a:rPr dirty="0" sz="1200" spc="10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고객과</a:t>
            </a:r>
            <a:r>
              <a:rPr dirty="0" sz="1200" spc="-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컨설턴트가</a:t>
            </a:r>
            <a:r>
              <a:rPr dirty="0" sz="1200" spc="10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함께</a:t>
            </a:r>
            <a:r>
              <a:rPr dirty="0" sz="1200" spc="-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나오는</a:t>
            </a:r>
            <a:r>
              <a:rPr dirty="0" sz="1200" spc="10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사진으로 업로드</a:t>
            </a:r>
            <a:r>
              <a:rPr dirty="0" sz="1200" spc="-30" b="1">
                <a:solidFill>
                  <a:srgbClr val="FF0000"/>
                </a:solidFill>
                <a:latin typeface="맑은 고딕"/>
                <a:cs typeface="맑은 고딕"/>
              </a:rPr>
              <a:t> 必</a:t>
            </a:r>
            <a:endParaRPr sz="1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(단</a:t>
            </a:r>
            <a:r>
              <a:rPr dirty="0" sz="1200" spc="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신청인이 거부반응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보일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경우,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사업장에서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컨설팅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중인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컨설턴트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사진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등으로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대체하되 관련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상황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알림장에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 spc="-25">
                <a:solidFill>
                  <a:srgbClr val="0000FF"/>
                </a:solidFill>
                <a:latin typeface="맑은 고딕"/>
                <a:cs typeface="맑은 고딕"/>
              </a:rPr>
              <a:t>표기)</a:t>
            </a:r>
            <a:endParaRPr sz="1200">
              <a:latin typeface="맑은 고딕"/>
              <a:cs typeface="맑은 고딕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29209" y="1468374"/>
          <a:ext cx="8233409" cy="505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  <a:gridCol w="4114800"/>
              </a:tblGrid>
              <a:tr h="5054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1일차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67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2일차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67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2274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4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kinfa</dc:creator>
  <dc:title>PowerPoint 프레젠테이션</dc:title>
  <dcterms:created xsi:type="dcterms:W3CDTF">2025-04-03T01:26:27Z</dcterms:created>
  <dcterms:modified xsi:type="dcterms:W3CDTF">2025-04-03T01:26:27Z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2025-03-31T00:00:00Z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2025-04-03T00:00:00Z</vt:filetime>
  </property>
  <property fmtid="{D5CDD505-2E9C-101B-9397-08002B2CF9AE}" pid="5" name="Producer">
    <vt:lpwstr>Microsoft® PowerPoint® 2010</vt:lpwstr>
  </property>
</Properties>
</file>